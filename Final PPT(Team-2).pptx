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74" r:id="rId6"/>
    <p:sldId id="278" r:id="rId7"/>
    <p:sldId id="280" r:id="rId8"/>
    <p:sldId id="283" r:id="rId9"/>
    <p:sldId id="286" r:id="rId10"/>
    <p:sldId id="285" r:id="rId11"/>
    <p:sldId id="284" r:id="rId12"/>
    <p:sldId id="271" r:id="rId13"/>
    <p:sldId id="281" r:id="rId14"/>
    <p:sldId id="287" r:id="rId15"/>
    <p:sldId id="289" r:id="rId16"/>
    <p:sldId id="288" r:id="rId17"/>
    <p:sldId id="292" r:id="rId18"/>
    <p:sldId id="293" r:id="rId19"/>
    <p:sldId id="294" r:id="rId20"/>
    <p:sldId id="295" r:id="rId21"/>
    <p:sldId id="290" r:id="rId22"/>
    <p:sldId id="291" r:id="rId23"/>
    <p:sldId id="268" r:id="rId24"/>
    <p:sldId id="269" r:id="rId25"/>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F6FC72-BF9C-45A9-9C7D-20A85E1C41C5}" v="67" dt="2026-04-05T18:53:13.31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05-04-2026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5139-1AFF-D3A0-DDED-EC44904EB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CAA4A-8CBD-6631-C71D-AC4F63D9D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0C2C8-43BC-835F-52A1-5BF2FAEB5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C6ACFE-808B-4C46-05B5-18378E07F9DF}"/>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09885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918734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E8DC7-51FA-1AA9-9627-B20DEAD70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31A89-6FEA-DE32-1EA6-9A59D9CF6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4D52C-8FED-68FF-EBFA-65653EAD72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5EB542-A558-180F-877A-82AF968CAE5C}"/>
              </a:ext>
            </a:extLst>
          </p:cNvPr>
          <p:cNvSpPr>
            <a:spLocks noGrp="1"/>
          </p:cNvSpPr>
          <p:nvPr>
            <p:ph type="sldNum" sz="quarter" idx="10"/>
          </p:nvPr>
        </p:nvSpPr>
        <p:spPr/>
        <p:txBody>
          <a:bodyPr/>
          <a:lstStyle/>
          <a:p>
            <a:fld id="{67E471F2-2083-493A-8C9E-53209FFA1EC8}" type="slidenum">
              <a:rPr lang="en-IN" smtClean="0"/>
              <a:t>17</a:t>
            </a:fld>
            <a:endParaRPr lang="en-IN"/>
          </a:p>
        </p:txBody>
      </p:sp>
    </p:spTree>
    <p:extLst>
      <p:ext uri="{BB962C8B-B14F-4D97-AF65-F5344CB8AC3E}">
        <p14:creationId xmlns:p14="http://schemas.microsoft.com/office/powerpoint/2010/main" val="1529010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980B3-915B-20C2-35DC-78255CB88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16E5C-8CC3-626B-2035-5AE576377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D40E8-FEA6-937B-2ED3-BF1246B4698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9B3E66C-6FF4-3B19-D77F-AAFA57C554B9}"/>
              </a:ext>
            </a:extLst>
          </p:cNvPr>
          <p:cNvSpPr>
            <a:spLocks noGrp="1"/>
          </p:cNvSpPr>
          <p:nvPr>
            <p:ph type="sldNum" sz="quarter" idx="10"/>
          </p:nvPr>
        </p:nvSpPr>
        <p:spPr/>
        <p:txBody>
          <a:bodyPr/>
          <a:lstStyle/>
          <a:p>
            <a:fld id="{67E471F2-2083-493A-8C9E-53209FFA1EC8}" type="slidenum">
              <a:rPr lang="en-IN" smtClean="0"/>
              <a:t>18</a:t>
            </a:fld>
            <a:endParaRPr lang="en-IN"/>
          </a:p>
        </p:txBody>
      </p:sp>
    </p:spTree>
    <p:extLst>
      <p:ext uri="{BB962C8B-B14F-4D97-AF65-F5344CB8AC3E}">
        <p14:creationId xmlns:p14="http://schemas.microsoft.com/office/powerpoint/2010/main" val="1045894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0CC0A-97A2-A9D6-ACC2-9AC6BA39D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BFC1C-BEFC-FBEA-EE0D-69B6292C7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9E19C-D808-8D43-4FC8-FA1A8D86EF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E9DD38A-985C-3BA5-B99D-F4DECED86F1B}"/>
              </a:ext>
            </a:extLst>
          </p:cNvPr>
          <p:cNvSpPr>
            <a:spLocks noGrp="1"/>
          </p:cNvSpPr>
          <p:nvPr>
            <p:ph type="sldNum" sz="quarter" idx="10"/>
          </p:nvPr>
        </p:nvSpPr>
        <p:spPr/>
        <p:txBody>
          <a:bodyPr/>
          <a:lstStyle/>
          <a:p>
            <a:fld id="{67E471F2-2083-493A-8C9E-53209FFA1EC8}" type="slidenum">
              <a:rPr lang="en-IN" smtClean="0"/>
              <a:t>19</a:t>
            </a:fld>
            <a:endParaRPr lang="en-IN"/>
          </a:p>
        </p:txBody>
      </p:sp>
    </p:spTree>
    <p:extLst>
      <p:ext uri="{BB962C8B-B14F-4D97-AF65-F5344CB8AC3E}">
        <p14:creationId xmlns:p14="http://schemas.microsoft.com/office/powerpoint/2010/main" val="3547466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6E9BD-8590-9692-F709-D216A9866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20ED0-02E7-1161-7C8F-4F25A1112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DA488-8B20-9014-36C4-1536C9FBFC0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394A388-0DC0-2862-03E1-3338243585A3}"/>
              </a:ext>
            </a:extLst>
          </p:cNvPr>
          <p:cNvSpPr>
            <a:spLocks noGrp="1"/>
          </p:cNvSpPr>
          <p:nvPr>
            <p:ph type="sldNum" sz="quarter" idx="10"/>
          </p:nvPr>
        </p:nvSpPr>
        <p:spPr/>
        <p:txBody>
          <a:bodyPr/>
          <a:lstStyle/>
          <a:p>
            <a:fld id="{67E471F2-2083-493A-8C9E-53209FFA1EC8}" type="slidenum">
              <a:rPr lang="en-IN" smtClean="0"/>
              <a:t>20</a:t>
            </a:fld>
            <a:endParaRPr lang="en-IN"/>
          </a:p>
        </p:txBody>
      </p:sp>
    </p:spTree>
    <p:extLst>
      <p:ext uri="{BB962C8B-B14F-4D97-AF65-F5344CB8AC3E}">
        <p14:creationId xmlns:p14="http://schemas.microsoft.com/office/powerpoint/2010/main" val="1596248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ocs.oracle.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28026"/>
          </a:xfrm>
          <a:prstGeom prst="rect">
            <a:avLst/>
          </a:prstGeom>
        </p:spPr>
        <p:txBody>
          <a:bodyPr vert="horz" wrap="square" lIns="0" tIns="16510" rIns="0" bIns="0" rtlCol="0">
            <a:spAutoFit/>
          </a:bodyPr>
          <a:lstStyle/>
          <a:p>
            <a:pPr algn="ctr">
              <a:lnSpc>
                <a:spcPct val="100000"/>
              </a:lnSpc>
              <a:spcBef>
                <a:spcPts val="130"/>
              </a:spcBef>
            </a:pPr>
            <a:r>
              <a:rPr lang="en-IN" sz="2400" dirty="0">
                <a:latin typeface="Times New Roman" panose="02020603050405020304" pitchFamily="18" charset="0"/>
                <a:cs typeface="Times New Roman" panose="02020603050405020304" pitchFamily="18" charset="0"/>
              </a:rPr>
              <a:t>Online Shopping Cart Simulation</a:t>
            </a:r>
          </a:p>
          <a:p>
            <a:pPr algn="ctr">
              <a:lnSpc>
                <a:spcPct val="100000"/>
              </a:lnSpc>
              <a:spcBef>
                <a:spcPts val="130"/>
              </a:spcBef>
            </a:pPr>
            <a:endParaRPr lang="en-IN" sz="2400" dirty="0">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V Nikhila (24B11DS215)</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P Sai Sree (24B11DS160)</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T Sathwika (24B11DS203)</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U Bharath Kishor (24B11DS212)</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Data Science</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5340693"/>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Online Shopping Cart Simulation is a Java-based application developed to simplify and automate the process of online product selection and purchasing. The system allows users to view available products, add items to a shopping cart, update quantities, and generate bills efficiently. It reduces manual errors in price calculation and ensures real-time cart management.</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application uses core Java concepts along with database connectivity to store and manage product and order data in a structured manner. It provides features such as accurate billing, order confirmation, and maintaining purchase history. Overall, the system improves user convenience, data accuracy, and operational efficiency in online shopping environments.</a:t>
            </a:r>
          </a:p>
          <a:p>
            <a:pPr algn="just">
              <a:lnSpc>
                <a:spcPct val="150000"/>
              </a:lnSpc>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5627181"/>
          </a:xfrm>
          <a:prstGeom prst="rect">
            <a:avLst/>
          </a:prstGeom>
          <a:noFill/>
        </p:spPr>
        <p:txBody>
          <a:bodyPr wrap="square" rtlCol="0">
            <a:spAutoFit/>
          </a:bodyPr>
          <a:lstStyle/>
          <a:p>
            <a:pPr>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Online Shopping Cart Simulation</a:t>
            </a:r>
            <a:r>
              <a:rPr lang="en-US" sz="2400" dirty="0">
                <a:latin typeface="Times New Roman" panose="02020603050405020304" pitchFamily="18" charset="0"/>
                <a:cs typeface="Times New Roman" panose="02020603050405020304" pitchFamily="18" charset="0"/>
              </a:rPr>
              <a:t> is a Java-based desktop application designed to simulate the working of an e-commerce shopping system.</a:t>
            </a:r>
          </a:p>
          <a:p>
            <a:pPr>
              <a:buNone/>
            </a:pPr>
            <a:r>
              <a:rPr lang="en-US" sz="2400" dirty="0">
                <a:latin typeface="Times New Roman" panose="02020603050405020304" pitchFamily="18" charset="0"/>
                <a:cs typeface="Times New Roman" panose="02020603050405020304" pitchFamily="18" charset="0"/>
              </a:rPr>
              <a:t>It allows users to:</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View available products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items to the shopping cart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 quantities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Remove items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Validate stock availability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Apply discounts or coupons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Generate final bill</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 order history in database</a:t>
            </a:r>
          </a:p>
          <a:p>
            <a:pPr>
              <a:buNone/>
            </a:pPr>
            <a:r>
              <a:rPr lang="en-US" sz="2400" dirty="0">
                <a:latin typeface="Times New Roman" panose="02020603050405020304" pitchFamily="18" charset="0"/>
                <a:cs typeface="Times New Roman" panose="02020603050405020304" pitchFamily="18" charset="0"/>
              </a:rPr>
              <a:t>This project demonstrates how real-time shopping cart operations are implemented in modern e-commerce platforms.</a:t>
            </a:r>
          </a:p>
          <a:p>
            <a:pPr algn="just">
              <a:lnSpc>
                <a:spcPct val="150000"/>
              </a:lnSpc>
            </a:pPr>
            <a:endParaRPr lang="en-IN"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1185709"/>
          </a:xfrm>
          <a:prstGeom prst="rect">
            <a:avLst/>
          </a:prstGeom>
          <a:noFill/>
        </p:spPr>
        <p:txBody>
          <a:bodyPr wrap="square" rtlCol="0">
            <a:spAutoFit/>
          </a:bodyPr>
          <a:lstStyle/>
          <a:p>
            <a:pPr algn="just">
              <a:spcBef>
                <a:spcPts val="1200"/>
              </a:spcBef>
            </a:pPr>
            <a:r>
              <a:rPr lang="en-US" sz="2800" b="1" dirty="0">
                <a:latin typeface="Times New Roman" panose="02020603050405020304" pitchFamily="18" charset="0"/>
                <a:cs typeface="Times New Roman" panose="02020603050405020304" pitchFamily="18" charset="0"/>
              </a:rPr>
              <a:t>Functional</a:t>
            </a:r>
            <a:r>
              <a:rPr lang="en-US" sz="3200" b="1" dirty="0">
                <a:latin typeface="Times New Roman" panose="02020603050405020304" pitchFamily="18" charset="0"/>
                <a:cs typeface="Times New Roman" panose="02020603050405020304" pitchFamily="18" charset="0"/>
              </a:rPr>
              <a:t> Requirements</a:t>
            </a:r>
            <a:r>
              <a:rPr lang="en-US" sz="2400" b="1" dirty="0">
                <a:latin typeface="Times New Roman" panose="02020603050405020304" pitchFamily="18" charset="0"/>
                <a:cs typeface="Times New Roman" panose="02020603050405020304" pitchFamily="18" charset="0"/>
              </a:rPr>
              <a:t>:</a:t>
            </a:r>
          </a:p>
          <a:p>
            <a:pPr lvl="2" algn="just">
              <a:lnSpc>
                <a:spcPct val="150000"/>
              </a:lnSpc>
              <a:spcBef>
                <a:spcPts val="1200"/>
              </a:spcBef>
            </a:pPr>
            <a:endParaRPr lang="en-US" sz="22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66AA357D-19FD-6C6C-932F-4E59EDD2CFA6}"/>
              </a:ext>
            </a:extLst>
          </p:cNvPr>
          <p:cNvSpPr txBox="1"/>
          <p:nvPr/>
        </p:nvSpPr>
        <p:spPr>
          <a:xfrm>
            <a:off x="762000" y="2154376"/>
            <a:ext cx="8991600" cy="3785652"/>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can register and login to the system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View list of available products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View product details (price, description, etc.)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products to shopping cart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 or remove items from the cart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Calculate total price automatically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Generate bill/invoice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Confirm order and complete purchase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View order history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 and retrieve data using database </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i5</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Oracle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Java Swing</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762000" y="1524000"/>
            <a:ext cx="8647695" cy="480131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system uses a relational database to store product and order information efficiently. </a:t>
            </a:r>
          </a:p>
          <a:p>
            <a:r>
              <a:rPr lang="en-US" sz="2400" dirty="0">
                <a:latin typeface="Times New Roman" panose="02020603050405020304" pitchFamily="18" charset="0"/>
                <a:cs typeface="Times New Roman" panose="02020603050405020304" pitchFamily="18" charset="0"/>
              </a:rPr>
              <a:t>It consists of main tables such as: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table</a:t>
            </a:r>
          </a:p>
          <a:p>
            <a:pPr marL="3429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Product Table </a:t>
            </a:r>
          </a:p>
          <a:p>
            <a:pPr marL="3429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Cart Table </a:t>
            </a:r>
          </a:p>
          <a:p>
            <a:pPr marL="3429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Order Table </a:t>
            </a:r>
          </a:p>
          <a:p>
            <a:r>
              <a:rPr lang="en-US" sz="2400" dirty="0">
                <a:latin typeface="Times New Roman" panose="02020603050405020304" pitchFamily="18" charset="0"/>
                <a:cs typeface="Times New Roman" panose="02020603050405020304" pitchFamily="18" charset="0"/>
              </a:rPr>
              <a:t>The design helps in reducing data redundancy and improving data organization. </a:t>
            </a:r>
          </a:p>
          <a:p>
            <a:r>
              <a:rPr lang="en-US" sz="2400" dirty="0">
                <a:latin typeface="Times New Roman" panose="02020603050405020304" pitchFamily="18" charset="0"/>
                <a:cs typeface="Times New Roman" panose="02020603050405020304" pitchFamily="18" charset="0"/>
              </a:rPr>
              <a:t>Each order is linked to products using relationships (foreign keys). </a:t>
            </a:r>
          </a:p>
          <a:p>
            <a:r>
              <a:rPr lang="en-US" sz="2400" dirty="0">
                <a:latin typeface="Times New Roman" panose="02020603050405020304" pitchFamily="18" charset="0"/>
                <a:cs typeface="Times New Roman" panose="02020603050405020304" pitchFamily="18" charset="0"/>
              </a:rPr>
              <a:t>The database ensures data integrity using primary keys and constraints. </a:t>
            </a:r>
          </a:p>
          <a:p>
            <a:endParaRPr lang="en-IN" dirty="0"/>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Database Tables</a:t>
            </a:r>
            <a:r>
              <a:rPr lang="en-IN" sz="2400" b="1"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738664"/>
          </a:xfrm>
          <a:prstGeom prst="rect">
            <a:avLst/>
          </a:prstGeom>
          <a:noFill/>
        </p:spPr>
        <p:txBody>
          <a:bodyPr wrap="square">
            <a:spAutoFit/>
          </a:bodyPr>
          <a:lstStyle/>
          <a:p>
            <a:r>
              <a:rPr lang="en-IN" sz="2400" b="1" dirty="0"/>
              <a:t>User Table :</a:t>
            </a:r>
          </a:p>
          <a:p>
            <a:r>
              <a:rPr lang="en-US" dirty="0"/>
              <a:t>		</a:t>
            </a:r>
            <a:endParaRPr lang="en-IN" b="1" dirty="0"/>
          </a:p>
        </p:txBody>
      </p:sp>
      <p:graphicFrame>
        <p:nvGraphicFramePr>
          <p:cNvPr id="3" name="Table 2">
            <a:extLst>
              <a:ext uri="{FF2B5EF4-FFF2-40B4-BE49-F238E27FC236}">
                <a16:creationId xmlns:a16="http://schemas.microsoft.com/office/drawing/2014/main" id="{D21AF9B6-860A-0AC1-C4DF-AA2959C9BE52}"/>
              </a:ext>
            </a:extLst>
          </p:cNvPr>
          <p:cNvGraphicFramePr>
            <a:graphicFrameLocks noGrp="1"/>
          </p:cNvGraphicFramePr>
          <p:nvPr>
            <p:extLst>
              <p:ext uri="{D42A27DB-BD31-4B8C-83A1-F6EECF244321}">
                <p14:modId xmlns:p14="http://schemas.microsoft.com/office/powerpoint/2010/main" val="2725438850"/>
              </p:ext>
            </p:extLst>
          </p:nvPr>
        </p:nvGraphicFramePr>
        <p:xfrm>
          <a:off x="990600" y="2842492"/>
          <a:ext cx="7696199" cy="3939306"/>
        </p:xfrm>
        <a:graphic>
          <a:graphicData uri="http://schemas.openxmlformats.org/drawingml/2006/table">
            <a:tbl>
              <a:tblPr firstRow="1" firstCol="1" bandRow="1">
                <a:tableStyleId>{5C22544A-7EE6-4342-B048-85BDC9FD1C3A}</a:tableStyleId>
              </a:tblPr>
              <a:tblGrid>
                <a:gridCol w="1725659">
                  <a:extLst>
                    <a:ext uri="{9D8B030D-6E8A-4147-A177-3AD203B41FA5}">
                      <a16:colId xmlns:a16="http://schemas.microsoft.com/office/drawing/2014/main" val="3095281626"/>
                    </a:ext>
                  </a:extLst>
                </a:gridCol>
                <a:gridCol w="2126873">
                  <a:extLst>
                    <a:ext uri="{9D8B030D-6E8A-4147-A177-3AD203B41FA5}">
                      <a16:colId xmlns:a16="http://schemas.microsoft.com/office/drawing/2014/main" val="1129687089"/>
                    </a:ext>
                  </a:extLst>
                </a:gridCol>
                <a:gridCol w="2039315">
                  <a:extLst>
                    <a:ext uri="{9D8B030D-6E8A-4147-A177-3AD203B41FA5}">
                      <a16:colId xmlns:a16="http://schemas.microsoft.com/office/drawing/2014/main" val="1242281707"/>
                    </a:ext>
                  </a:extLst>
                </a:gridCol>
                <a:gridCol w="1804352">
                  <a:extLst>
                    <a:ext uri="{9D8B030D-6E8A-4147-A177-3AD203B41FA5}">
                      <a16:colId xmlns:a16="http://schemas.microsoft.com/office/drawing/2014/main" val="2761703233"/>
                    </a:ext>
                  </a:extLst>
                </a:gridCol>
              </a:tblGrid>
              <a:tr h="562758">
                <a:tc>
                  <a:txBody>
                    <a:bodyPr/>
                    <a:lstStyle/>
                    <a:p>
                      <a:pPr marL="11176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Field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Data Type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Description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Constraint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9762563"/>
                  </a:ext>
                </a:extLst>
              </a:tr>
              <a:tr h="562758">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User _ id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NUMBER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User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Primary Key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22462269"/>
                  </a:ext>
                </a:extLst>
              </a:tr>
              <a:tr h="562758">
                <a:tc>
                  <a:txBody>
                    <a:bodyPr/>
                    <a:lstStyle/>
                    <a:p>
                      <a:pPr marL="2286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first _ name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VARCHAR2(50)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First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Not Null</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61914538"/>
                  </a:ext>
                </a:extLst>
              </a:tr>
              <a:tr h="562758">
                <a:tc>
                  <a:txBody>
                    <a:bodyPr/>
                    <a:lstStyle/>
                    <a:p>
                      <a:pPr marL="22860" algn="ctr">
                        <a:lnSpc>
                          <a:spcPct val="115000"/>
                        </a:lnSpc>
                        <a:buNone/>
                      </a:pPr>
                      <a:r>
                        <a:rPr lang="en-IN" sz="1600" kern="100" dirty="0">
                          <a:effectLst/>
                          <a:latin typeface="Times New Roman" panose="02020603050405020304" pitchFamily="18" charset="0"/>
                          <a:cs typeface="Times New Roman" panose="02020603050405020304" pitchFamily="18" charset="0"/>
                        </a:rPr>
                        <a:t>last _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VARCHAR2(50)</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Last Name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39668984"/>
                  </a:ext>
                </a:extLst>
              </a:tr>
              <a:tr h="562758">
                <a:tc>
                  <a:txBody>
                    <a:bodyPr/>
                    <a:lstStyle/>
                    <a:p>
                      <a:pPr marL="22860" algn="ctr">
                        <a:lnSpc>
                          <a:spcPct val="115000"/>
                        </a:lnSpc>
                        <a:buNone/>
                      </a:pPr>
                      <a:r>
                        <a:rPr lang="en-IN" sz="1600" kern="100">
                          <a:effectLst/>
                          <a:latin typeface="Times New Roman" panose="02020603050405020304" pitchFamily="18" charset="0"/>
                          <a:cs typeface="Times New Roman" panose="02020603050405020304" pitchFamily="18" charset="0"/>
                        </a:rPr>
                        <a:t>Email</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VARCHAR2(100)</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Email Address</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Not Null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19600100"/>
                  </a:ext>
                </a:extLst>
              </a:tr>
              <a:tr h="562758">
                <a:tc>
                  <a:txBody>
                    <a:bodyPr/>
                    <a:lstStyle/>
                    <a:p>
                      <a:pPr marL="22860" algn="ctr">
                        <a:lnSpc>
                          <a:spcPct val="115000"/>
                        </a:lnSpc>
                        <a:buNone/>
                      </a:pPr>
                      <a:r>
                        <a:rPr lang="en-IN" sz="1600" kern="100">
                          <a:effectLst/>
                          <a:latin typeface="Times New Roman" panose="02020603050405020304" pitchFamily="18" charset="0"/>
                          <a:cs typeface="Times New Roman" panose="02020603050405020304" pitchFamily="18" charset="0"/>
                        </a:rPr>
                        <a:t>username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VARCHAR2(50)</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Username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Unique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24583627"/>
                  </a:ext>
                </a:extLst>
              </a:tr>
              <a:tr h="562758">
                <a:tc>
                  <a:txBody>
                    <a:bodyPr/>
                    <a:lstStyle/>
                    <a:p>
                      <a:pPr marL="22860" algn="ctr">
                        <a:lnSpc>
                          <a:spcPct val="115000"/>
                        </a:lnSpc>
                        <a:buNone/>
                      </a:pPr>
                      <a:r>
                        <a:rPr lang="en-IN" sz="1600" kern="100" dirty="0">
                          <a:effectLst/>
                          <a:latin typeface="Times New Roman" panose="02020603050405020304" pitchFamily="18" charset="0"/>
                          <a:cs typeface="Times New Roman" panose="02020603050405020304" pitchFamily="18" charset="0"/>
                        </a:rPr>
                        <a:t>password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VARCHAR2(50)</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Password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Not Null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61867929"/>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533400" y="2005523"/>
            <a:ext cx="8366948" cy="461665"/>
          </a:xfrm>
          <a:prstGeom prst="rect">
            <a:avLst/>
          </a:prstGeom>
          <a:noFill/>
        </p:spPr>
        <p:txBody>
          <a:bodyPr wrap="square">
            <a:spAutoFit/>
          </a:bodyPr>
          <a:lstStyle/>
          <a:p>
            <a:r>
              <a:rPr lang="en-IN" sz="2400" b="1" dirty="0"/>
              <a:t>Product Table:</a:t>
            </a:r>
            <a:endParaRPr lang="en-IN" b="1" dirty="0"/>
          </a:p>
        </p:txBody>
      </p:sp>
      <p:graphicFrame>
        <p:nvGraphicFramePr>
          <p:cNvPr id="3" name="Table 2">
            <a:extLst>
              <a:ext uri="{FF2B5EF4-FFF2-40B4-BE49-F238E27FC236}">
                <a16:creationId xmlns:a16="http://schemas.microsoft.com/office/drawing/2014/main" id="{87D16BC0-4F8E-5015-BBB2-DA5358FDC10F}"/>
              </a:ext>
            </a:extLst>
          </p:cNvPr>
          <p:cNvGraphicFramePr>
            <a:graphicFrameLocks noGrp="1"/>
          </p:cNvGraphicFramePr>
          <p:nvPr>
            <p:extLst>
              <p:ext uri="{D42A27DB-BD31-4B8C-83A1-F6EECF244321}">
                <p14:modId xmlns:p14="http://schemas.microsoft.com/office/powerpoint/2010/main" val="1353478708"/>
              </p:ext>
            </p:extLst>
          </p:nvPr>
        </p:nvGraphicFramePr>
        <p:xfrm>
          <a:off x="914401" y="2819400"/>
          <a:ext cx="7985947" cy="4038600"/>
        </p:xfrm>
        <a:graphic>
          <a:graphicData uri="http://schemas.openxmlformats.org/drawingml/2006/table">
            <a:tbl>
              <a:tblPr firstRow="1" firstCol="1" bandRow="1">
                <a:tableStyleId>{5C22544A-7EE6-4342-B048-85BDC9FD1C3A}</a:tableStyleId>
              </a:tblPr>
              <a:tblGrid>
                <a:gridCol w="1961985">
                  <a:extLst>
                    <a:ext uri="{9D8B030D-6E8A-4147-A177-3AD203B41FA5}">
                      <a16:colId xmlns:a16="http://schemas.microsoft.com/office/drawing/2014/main" val="501198024"/>
                    </a:ext>
                  </a:extLst>
                </a:gridCol>
                <a:gridCol w="2167844">
                  <a:extLst>
                    <a:ext uri="{9D8B030D-6E8A-4147-A177-3AD203B41FA5}">
                      <a16:colId xmlns:a16="http://schemas.microsoft.com/office/drawing/2014/main" val="317391849"/>
                    </a:ext>
                  </a:extLst>
                </a:gridCol>
                <a:gridCol w="2041339">
                  <a:extLst>
                    <a:ext uri="{9D8B030D-6E8A-4147-A177-3AD203B41FA5}">
                      <a16:colId xmlns:a16="http://schemas.microsoft.com/office/drawing/2014/main" val="2986511357"/>
                    </a:ext>
                  </a:extLst>
                </a:gridCol>
                <a:gridCol w="1814779">
                  <a:extLst>
                    <a:ext uri="{9D8B030D-6E8A-4147-A177-3AD203B41FA5}">
                      <a16:colId xmlns:a16="http://schemas.microsoft.com/office/drawing/2014/main" val="2191905735"/>
                    </a:ext>
                  </a:extLst>
                </a:gridCol>
              </a:tblGrid>
              <a:tr h="807720">
                <a:tc>
                  <a:txBody>
                    <a:bodyPr/>
                    <a:lstStyle/>
                    <a:p>
                      <a:pPr marL="11176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Field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Data Type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Description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Constraint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34340039"/>
                  </a:ext>
                </a:extLst>
              </a:tr>
              <a:tr h="807720">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 _ id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NUMBER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Product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Primary Key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50066807"/>
                  </a:ext>
                </a:extLst>
              </a:tr>
              <a:tr h="807720">
                <a:tc>
                  <a:txBody>
                    <a:bodyPr/>
                    <a:lstStyle/>
                    <a:p>
                      <a:pPr marL="2286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Product_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VARCHAR2(100)</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Not Null</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14577150"/>
                  </a:ext>
                </a:extLst>
              </a:tr>
              <a:tr h="807720">
                <a:tc>
                  <a:txBody>
                    <a:bodyPr/>
                    <a:lstStyle/>
                    <a:p>
                      <a:pPr marL="22860" algn="ctr">
                        <a:lnSpc>
                          <a:spcPct val="115000"/>
                        </a:lnSpc>
                        <a:buNone/>
                      </a:pPr>
                      <a:r>
                        <a:rPr lang="en-IN" sz="1600" kern="100">
                          <a:effectLst/>
                          <a:latin typeface="Times New Roman" panose="02020603050405020304" pitchFamily="18" charset="0"/>
                          <a:cs typeface="Times New Roman" panose="02020603050405020304" pitchFamily="18" charset="0"/>
                        </a:rPr>
                        <a:t>price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Product Price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Not Null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11987753"/>
                  </a:ext>
                </a:extLst>
              </a:tr>
              <a:tr h="807720">
                <a:tc>
                  <a:txBody>
                    <a:bodyPr/>
                    <a:lstStyle/>
                    <a:p>
                      <a:pPr marL="22860" algn="ctr">
                        <a:lnSpc>
                          <a:spcPct val="115000"/>
                        </a:lnSpc>
                        <a:buNone/>
                      </a:pPr>
                      <a:r>
                        <a:rPr lang="en-IN" sz="1600" kern="100">
                          <a:effectLst/>
                          <a:latin typeface="Times New Roman" panose="02020603050405020304" pitchFamily="18" charset="0"/>
                          <a:cs typeface="Times New Roman" panose="02020603050405020304" pitchFamily="18" charset="0"/>
                        </a:rPr>
                        <a:t>quantity</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Available Stock</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00611814"/>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81780"/>
            <a:ext cx="458526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533400" y="2005523"/>
            <a:ext cx="8366948" cy="73866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Cart Table :</a:t>
            </a:r>
          </a:p>
          <a:p>
            <a:r>
              <a:rPr lang="en-US" dirty="0"/>
              <a:t>	</a:t>
            </a:r>
            <a:endParaRPr lang="en-IN" b="1" dirty="0"/>
          </a:p>
        </p:txBody>
      </p:sp>
      <p:graphicFrame>
        <p:nvGraphicFramePr>
          <p:cNvPr id="4" name="Table 3">
            <a:extLst>
              <a:ext uri="{FF2B5EF4-FFF2-40B4-BE49-F238E27FC236}">
                <a16:creationId xmlns:a16="http://schemas.microsoft.com/office/drawing/2014/main" id="{5AD20D0D-E585-A2B1-7884-459E449D62BE}"/>
              </a:ext>
            </a:extLst>
          </p:cNvPr>
          <p:cNvGraphicFramePr>
            <a:graphicFrameLocks noGrp="1"/>
          </p:cNvGraphicFramePr>
          <p:nvPr>
            <p:extLst>
              <p:ext uri="{D42A27DB-BD31-4B8C-83A1-F6EECF244321}">
                <p14:modId xmlns:p14="http://schemas.microsoft.com/office/powerpoint/2010/main" val="2108979053"/>
              </p:ext>
            </p:extLst>
          </p:nvPr>
        </p:nvGraphicFramePr>
        <p:xfrm>
          <a:off x="872251" y="2873270"/>
          <a:ext cx="7772401" cy="4003392"/>
        </p:xfrm>
        <a:graphic>
          <a:graphicData uri="http://schemas.openxmlformats.org/drawingml/2006/table">
            <a:tbl>
              <a:tblPr firstRow="1" firstCol="1" bandRow="1">
                <a:tableStyleId>{5C22544A-7EE6-4342-B048-85BDC9FD1C3A}</a:tableStyleId>
              </a:tblPr>
              <a:tblGrid>
                <a:gridCol w="2068462">
                  <a:extLst>
                    <a:ext uri="{9D8B030D-6E8A-4147-A177-3AD203B41FA5}">
                      <a16:colId xmlns:a16="http://schemas.microsoft.com/office/drawing/2014/main" val="2235534747"/>
                    </a:ext>
                  </a:extLst>
                </a:gridCol>
                <a:gridCol w="2011377">
                  <a:extLst>
                    <a:ext uri="{9D8B030D-6E8A-4147-A177-3AD203B41FA5}">
                      <a16:colId xmlns:a16="http://schemas.microsoft.com/office/drawing/2014/main" val="2618496060"/>
                    </a:ext>
                  </a:extLst>
                </a:gridCol>
                <a:gridCol w="1964367">
                  <a:extLst>
                    <a:ext uri="{9D8B030D-6E8A-4147-A177-3AD203B41FA5}">
                      <a16:colId xmlns:a16="http://schemas.microsoft.com/office/drawing/2014/main" val="2754610172"/>
                    </a:ext>
                  </a:extLst>
                </a:gridCol>
                <a:gridCol w="1728195">
                  <a:extLst>
                    <a:ext uri="{9D8B030D-6E8A-4147-A177-3AD203B41FA5}">
                      <a16:colId xmlns:a16="http://schemas.microsoft.com/office/drawing/2014/main" val="715134020"/>
                    </a:ext>
                  </a:extLst>
                </a:gridCol>
              </a:tblGrid>
              <a:tr h="667232">
                <a:tc>
                  <a:txBody>
                    <a:bodyPr/>
                    <a:lstStyle/>
                    <a:p>
                      <a:pPr marL="11176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Field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Data Type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Description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Constraint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33731776"/>
                  </a:ext>
                </a:extLst>
              </a:tr>
              <a:tr h="667232">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Cart_ id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Cart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Primary Key</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9792735"/>
                  </a:ext>
                </a:extLst>
              </a:tr>
              <a:tr h="667232">
                <a:tc>
                  <a:txBody>
                    <a:bodyPr/>
                    <a:lstStyle/>
                    <a:p>
                      <a:pPr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Product_ id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Product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Foreign Key</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38151989"/>
                  </a:ext>
                </a:extLst>
              </a:tr>
              <a:tr h="667232">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Product_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VARCHAR2(100)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Not Null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90958213"/>
                  </a:ext>
                </a:extLst>
              </a:tr>
              <a:tr h="667232">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Price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NUMBER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 Price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Not Null</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51126686"/>
                  </a:ext>
                </a:extLst>
              </a:tr>
              <a:tr h="667232">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quantity</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Quantity Selected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Not Null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3057470"/>
                  </a:ext>
                </a:extLst>
              </a:tr>
            </a:tbl>
          </a:graphicData>
        </a:graphic>
      </p:graphicFrame>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DFE6-68D0-626B-CEA5-012AC4CE06D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6AB6B8D9-907C-14D3-FE13-17C6E6CA573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F2F8D3D4-7414-5BC2-228C-E9103C17FB7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960E6045-C32B-45CA-9E5F-2D8B9813510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41BB376-4DAB-084D-64E6-3760EA8F9DD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E4FAF633-2235-2851-C3E8-F177ABCCA2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3F3E476-DF9A-C6ED-BCF5-6782970F311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6F5A8444-086B-9125-6392-B400175A6B5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FE2C5A62-55CB-BE52-28C1-9826A4970DAA}"/>
              </a:ext>
            </a:extLst>
          </p:cNvPr>
          <p:cNvSpPr txBox="1"/>
          <p:nvPr/>
        </p:nvSpPr>
        <p:spPr>
          <a:xfrm>
            <a:off x="290750" y="1353220"/>
            <a:ext cx="458526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7F5AECAB-ADA0-137A-8F14-77698E44A825}"/>
              </a:ext>
            </a:extLst>
          </p:cNvPr>
          <p:cNvSpPr txBox="1"/>
          <p:nvPr/>
        </p:nvSpPr>
        <p:spPr>
          <a:xfrm>
            <a:off x="533400" y="2005523"/>
            <a:ext cx="8366948" cy="73866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Orders Table :</a:t>
            </a:r>
          </a:p>
          <a:p>
            <a:r>
              <a:rPr lang="en-US" dirty="0"/>
              <a:t>		</a:t>
            </a:r>
            <a:endParaRPr lang="en-IN" b="1" dirty="0"/>
          </a:p>
        </p:txBody>
      </p:sp>
      <p:graphicFrame>
        <p:nvGraphicFramePr>
          <p:cNvPr id="4" name="Table 3">
            <a:extLst>
              <a:ext uri="{FF2B5EF4-FFF2-40B4-BE49-F238E27FC236}">
                <a16:creationId xmlns:a16="http://schemas.microsoft.com/office/drawing/2014/main" id="{CFF3523D-93A7-9D88-FC11-5DB611B815C7}"/>
              </a:ext>
            </a:extLst>
          </p:cNvPr>
          <p:cNvGraphicFramePr>
            <a:graphicFrameLocks noGrp="1"/>
          </p:cNvGraphicFramePr>
          <p:nvPr>
            <p:extLst>
              <p:ext uri="{D42A27DB-BD31-4B8C-83A1-F6EECF244321}">
                <p14:modId xmlns:p14="http://schemas.microsoft.com/office/powerpoint/2010/main" val="1424686338"/>
              </p:ext>
            </p:extLst>
          </p:nvPr>
        </p:nvGraphicFramePr>
        <p:xfrm>
          <a:off x="990600" y="2842492"/>
          <a:ext cx="7620001" cy="4015510"/>
        </p:xfrm>
        <a:graphic>
          <a:graphicData uri="http://schemas.openxmlformats.org/drawingml/2006/table">
            <a:tbl>
              <a:tblPr firstRow="1" firstCol="1" bandRow="1">
                <a:tableStyleId>{5C22544A-7EE6-4342-B048-85BDC9FD1C3A}</a:tableStyleId>
              </a:tblPr>
              <a:tblGrid>
                <a:gridCol w="2120079">
                  <a:extLst>
                    <a:ext uri="{9D8B030D-6E8A-4147-A177-3AD203B41FA5}">
                      <a16:colId xmlns:a16="http://schemas.microsoft.com/office/drawing/2014/main" val="653626305"/>
                    </a:ext>
                  </a:extLst>
                </a:gridCol>
                <a:gridCol w="2098135">
                  <a:extLst>
                    <a:ext uri="{9D8B030D-6E8A-4147-A177-3AD203B41FA5}">
                      <a16:colId xmlns:a16="http://schemas.microsoft.com/office/drawing/2014/main" val="632009018"/>
                    </a:ext>
                  </a:extLst>
                </a:gridCol>
                <a:gridCol w="1788681">
                  <a:extLst>
                    <a:ext uri="{9D8B030D-6E8A-4147-A177-3AD203B41FA5}">
                      <a16:colId xmlns:a16="http://schemas.microsoft.com/office/drawing/2014/main" val="3138417796"/>
                    </a:ext>
                  </a:extLst>
                </a:gridCol>
                <a:gridCol w="1613106">
                  <a:extLst>
                    <a:ext uri="{9D8B030D-6E8A-4147-A177-3AD203B41FA5}">
                      <a16:colId xmlns:a16="http://schemas.microsoft.com/office/drawing/2014/main" val="2597942286"/>
                    </a:ext>
                  </a:extLst>
                </a:gridCol>
              </a:tblGrid>
              <a:tr h="602928">
                <a:tc>
                  <a:txBody>
                    <a:bodyPr/>
                    <a:lstStyle/>
                    <a:p>
                      <a:pPr marL="11176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Field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Data Type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Description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Constraint</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extLst>
                  <a:ext uri="{0D108BD9-81ED-4DB2-BD59-A6C34878D82A}">
                    <a16:rowId xmlns:a16="http://schemas.microsoft.com/office/drawing/2014/main" val="3224004719"/>
                  </a:ext>
                </a:extLst>
              </a:tr>
              <a:tr h="602928">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order_ id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NUMBER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Cart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Primary Key</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extLst>
                  <a:ext uri="{0D108BD9-81ED-4DB2-BD59-A6C34878D82A}">
                    <a16:rowId xmlns:a16="http://schemas.microsoft.com/office/drawing/2014/main" val="2286672060"/>
                  </a:ext>
                </a:extLst>
              </a:tr>
              <a:tr h="397942">
                <a:tc>
                  <a:txBody>
                    <a:bodyPr/>
                    <a:lstStyle/>
                    <a:p>
                      <a:pPr marL="2286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Product_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NUMBER</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Product ID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Not Null</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extLst>
                  <a:ext uri="{0D108BD9-81ED-4DB2-BD59-A6C34878D82A}">
                    <a16:rowId xmlns:a16="http://schemas.microsoft.com/office/drawing/2014/main" val="2267256814"/>
                  </a:ext>
                </a:extLst>
              </a:tr>
              <a:tr h="602928">
                <a:tc>
                  <a:txBody>
                    <a:bodyPr/>
                    <a:lstStyle/>
                    <a:p>
                      <a:pPr marL="22860" algn="ctr">
                        <a:lnSpc>
                          <a:spcPct val="115000"/>
                        </a:lnSpc>
                        <a:buNone/>
                      </a:pPr>
                      <a:r>
                        <a:rPr lang="en-IN" sz="1600" kern="100" dirty="0">
                          <a:effectLst/>
                          <a:latin typeface="Times New Roman" panose="02020603050405020304" pitchFamily="18" charset="0"/>
                          <a:cs typeface="Times New Roman" panose="02020603050405020304" pitchFamily="18" charset="0"/>
                        </a:rPr>
                        <a:t>Product_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dirty="0">
                          <a:effectLst/>
                          <a:latin typeface="Times New Roman" panose="02020603050405020304" pitchFamily="18" charset="0"/>
                          <a:cs typeface="Times New Roman" panose="02020603050405020304" pitchFamily="18" charset="0"/>
                        </a:rPr>
                        <a:t>VARCHAR2(100)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dirty="0">
                          <a:effectLst/>
                          <a:latin typeface="Times New Roman" panose="02020603050405020304" pitchFamily="18" charset="0"/>
                          <a:cs typeface="Times New Roman" panose="02020603050405020304" pitchFamily="18" charset="0"/>
                        </a:rPr>
                        <a:t>Product Name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extLst>
                  <a:ext uri="{0D108BD9-81ED-4DB2-BD59-A6C34878D82A}">
                    <a16:rowId xmlns:a16="http://schemas.microsoft.com/office/drawing/2014/main" val="2594461425"/>
                  </a:ext>
                </a:extLst>
              </a:tr>
              <a:tr h="602928">
                <a:tc>
                  <a:txBody>
                    <a:bodyPr/>
                    <a:lstStyle/>
                    <a:p>
                      <a:pPr marL="22860" algn="ctr">
                        <a:lnSpc>
                          <a:spcPct val="115000"/>
                        </a:lnSpc>
                        <a:buNone/>
                      </a:pPr>
                      <a:r>
                        <a:rPr lang="en-IN" sz="1600" kern="100">
                          <a:effectLst/>
                          <a:latin typeface="Times New Roman" panose="02020603050405020304" pitchFamily="18" charset="0"/>
                          <a:cs typeface="Times New Roman" panose="02020603050405020304" pitchFamily="18" charset="0"/>
                        </a:rPr>
                        <a:t>Price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dirty="0">
                          <a:effectLst/>
                          <a:latin typeface="Times New Roman" panose="02020603050405020304" pitchFamily="18" charset="0"/>
                          <a:cs typeface="Times New Roman" panose="02020603050405020304" pitchFamily="18" charset="0"/>
                        </a:rPr>
                        <a:t>Product Price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Not Null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extLst>
                  <a:ext uri="{0D108BD9-81ED-4DB2-BD59-A6C34878D82A}">
                    <a16:rowId xmlns:a16="http://schemas.microsoft.com/office/drawing/2014/main" val="4096399327"/>
                  </a:ext>
                </a:extLst>
              </a:tr>
              <a:tr h="807914">
                <a:tc>
                  <a:txBody>
                    <a:bodyPr/>
                    <a:lstStyle/>
                    <a:p>
                      <a:pPr marL="22860" algn="ctr">
                        <a:lnSpc>
                          <a:spcPct val="115000"/>
                        </a:lnSpc>
                        <a:buNone/>
                      </a:pPr>
                      <a:r>
                        <a:rPr lang="en-IN" sz="1600" kern="100">
                          <a:effectLst/>
                          <a:latin typeface="Times New Roman" panose="02020603050405020304" pitchFamily="18" charset="0"/>
                          <a:cs typeface="Times New Roman" panose="02020603050405020304" pitchFamily="18" charset="0"/>
                        </a:rPr>
                        <a:t>quantity</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Quantity Selected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Not Null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extLst>
                  <a:ext uri="{0D108BD9-81ED-4DB2-BD59-A6C34878D82A}">
                    <a16:rowId xmlns:a16="http://schemas.microsoft.com/office/drawing/2014/main" val="1845364494"/>
                  </a:ext>
                </a:extLst>
              </a:tr>
              <a:tr h="397942">
                <a:tc>
                  <a:txBody>
                    <a:bodyPr/>
                    <a:lstStyle/>
                    <a:p>
                      <a:pPr algn="ctr">
                        <a:lnSpc>
                          <a:spcPct val="115000"/>
                        </a:lnSpc>
                        <a:spcAft>
                          <a:spcPts val="800"/>
                        </a:spcAft>
                        <a:buNone/>
                      </a:pPr>
                      <a:r>
                        <a:rPr lang="en-IN" sz="1600" kern="100">
                          <a:effectLst/>
                          <a:latin typeface="Times New Roman" panose="02020603050405020304" pitchFamily="18" charset="0"/>
                          <a:cs typeface="Times New Roman" panose="02020603050405020304" pitchFamily="18" charset="0"/>
                        </a:rPr>
                        <a:t>Cart_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NUMBER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buNone/>
                      </a:pPr>
                      <a:r>
                        <a:rPr lang="en-IN" sz="1600" kern="100">
                          <a:effectLst/>
                          <a:latin typeface="Times New Roman" panose="02020603050405020304" pitchFamily="18" charset="0"/>
                          <a:cs typeface="Times New Roman" panose="02020603050405020304" pitchFamily="18" charset="0"/>
                        </a:rPr>
                        <a:t>Cart ID</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tc>
                  <a:txBody>
                    <a:bodyPr/>
                    <a:lstStyle/>
                    <a:p>
                      <a:pPr marL="457200" algn="ctr">
                        <a:lnSpc>
                          <a:spcPct val="115000"/>
                        </a:lnSpc>
                        <a:spcAft>
                          <a:spcPts val="800"/>
                        </a:spcAft>
                        <a:buNone/>
                      </a:pPr>
                      <a:r>
                        <a:rPr lang="en-IN" sz="1600" kern="100" dirty="0">
                          <a:effectLst/>
                          <a:latin typeface="Times New Roman" panose="02020603050405020304" pitchFamily="18"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880" marR="57880" marT="0" marB="0" anchor="ctr"/>
                </a:tc>
                <a:extLst>
                  <a:ext uri="{0D108BD9-81ED-4DB2-BD59-A6C34878D82A}">
                    <a16:rowId xmlns:a16="http://schemas.microsoft.com/office/drawing/2014/main" val="2511918449"/>
                  </a:ext>
                </a:extLst>
              </a:tr>
            </a:tbl>
          </a:graphicData>
        </a:graphic>
      </p:graphicFrame>
    </p:spTree>
    <p:extLst>
      <p:ext uri="{BB962C8B-B14F-4D97-AF65-F5344CB8AC3E}">
        <p14:creationId xmlns:p14="http://schemas.microsoft.com/office/powerpoint/2010/main" val="235956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1037173"/>
            <a:ext cx="7924801" cy="661207"/>
          </a:xfrm>
          <a:prstGeom prst="rect">
            <a:avLst/>
          </a:prstGeom>
          <a:noFill/>
        </p:spPr>
        <p:txBody>
          <a:bodyPr wrap="square" rtlCol="0">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Modules:</a:t>
            </a: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990600" y="1756139"/>
            <a:ext cx="8762999" cy="4832092"/>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User Management Module: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Handles user registration, login, and secure credential validation </a:t>
            </a:r>
          </a:p>
          <a:p>
            <a:r>
              <a:rPr lang="en-IN" sz="2400" b="1" dirty="0">
                <a:latin typeface="Times New Roman" panose="02020603050405020304" pitchFamily="18" charset="0"/>
                <a:cs typeface="Times New Roman" panose="02020603050405020304" pitchFamily="18" charset="0"/>
              </a:rPr>
              <a:t>Product Module:</a:t>
            </a:r>
          </a:p>
          <a:p>
            <a:r>
              <a:rPr lang="en-IN" sz="2400" dirty="0">
                <a:latin typeface="Times New Roman" panose="02020603050405020304" pitchFamily="18" charset="0"/>
                <a:cs typeface="Times New Roman" panose="02020603050405020304" pitchFamily="18" charset="0"/>
              </a:rPr>
              <a:t>Displays products with details and allows browsing and selection </a:t>
            </a:r>
          </a:p>
          <a:p>
            <a:r>
              <a:rPr lang="en-IN" sz="2400" b="1" dirty="0">
                <a:latin typeface="Times New Roman" panose="02020603050405020304" pitchFamily="18" charset="0"/>
                <a:cs typeface="Times New Roman" panose="02020603050405020304" pitchFamily="18" charset="0"/>
              </a:rPr>
              <a:t>Cart Module: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Adds, updates, removes items and shows selected products </a:t>
            </a:r>
          </a:p>
          <a:p>
            <a:r>
              <a:rPr lang="en-IN" sz="2400" b="1" dirty="0">
                <a:latin typeface="Times New Roman" panose="02020603050405020304" pitchFamily="18" charset="0"/>
                <a:cs typeface="Times New Roman" panose="02020603050405020304" pitchFamily="18" charset="0"/>
              </a:rPr>
              <a:t>Order Module: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Calculates total, generates bill, and stores order details </a:t>
            </a:r>
          </a:p>
          <a:p>
            <a:r>
              <a:rPr lang="en-IN" sz="2400" b="1" dirty="0">
                <a:latin typeface="Times New Roman" panose="02020603050405020304" pitchFamily="18" charset="0"/>
                <a:cs typeface="Times New Roman" panose="02020603050405020304" pitchFamily="18" charset="0"/>
              </a:rPr>
              <a:t>Database Connectivity Module: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Connects Java with Oracle DB and executes queries </a:t>
            </a:r>
          </a:p>
          <a:p>
            <a:r>
              <a:rPr lang="en-IN" sz="2400" b="1" dirty="0">
                <a:latin typeface="Times New Roman" panose="02020603050405020304" pitchFamily="18" charset="0"/>
                <a:cs typeface="Times New Roman" panose="02020603050405020304" pitchFamily="18" charset="0"/>
              </a:rPr>
              <a:t>User Interface Module: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Provides GUI using Swing and manages user interaction </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503745"/>
          </a:xfrm>
          <a:prstGeom prst="rect">
            <a:avLst/>
          </a:prstGeom>
          <a:noFill/>
        </p:spPr>
        <p:txBody>
          <a:bodyPr wrap="square">
            <a:spAutoFit/>
          </a:bodyPr>
          <a:lstStyle/>
          <a:p>
            <a:pPr>
              <a:lnSpc>
                <a:spcPct val="115000"/>
              </a:lnSpc>
              <a:spcAft>
                <a:spcPts val="800"/>
              </a:spcAft>
              <a:buNone/>
            </a:pP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Login window: </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pPr>
            <a:r>
              <a:rPr lang="en-IN" sz="2400" dirty="0">
                <a:latin typeface="Times New Roman" panose="02020603050405020304" pitchFamily="18" charset="0"/>
                <a:cs typeface="Times New Roman" panose="02020603050405020304" pitchFamily="18" charset="0"/>
              </a:rPr>
              <a:t>The Login Screen allows registered users to access the system by entering their username and password</a:t>
            </a:r>
            <a:r>
              <a:rPr lang="en-IN" sz="2400" dirty="0"/>
              <a:t>.</a:t>
            </a:r>
          </a:p>
        </p:txBody>
      </p:sp>
      <p:pic>
        <p:nvPicPr>
          <p:cNvPr id="2" name="Picture 1">
            <a:extLst>
              <a:ext uri="{FF2B5EF4-FFF2-40B4-BE49-F238E27FC236}">
                <a16:creationId xmlns:a16="http://schemas.microsoft.com/office/drawing/2014/main" id="{DF3FAB89-8514-BA65-8B69-DC1FA9376FC0}"/>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789952" y="3429000"/>
            <a:ext cx="6705600" cy="3598062"/>
          </a:xfrm>
          <a:prstGeom prst="rect">
            <a:avLst/>
          </a:prstGeom>
          <a:noFill/>
          <a:ln>
            <a:noFill/>
          </a:ln>
        </p:spPr>
      </p:pic>
    </p:spTree>
    <p:extLst>
      <p:ext uri="{BB962C8B-B14F-4D97-AF65-F5344CB8AC3E}">
        <p14:creationId xmlns:p14="http://schemas.microsoft.com/office/powerpoint/2010/main" val="251426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90600" y="1449777"/>
            <a:ext cx="8763000" cy="1538883"/>
          </a:xfrm>
          <a:prstGeom prst="rect">
            <a:avLst/>
          </a:prstGeom>
          <a:noFill/>
        </p:spPr>
        <p:txBody>
          <a:bodyPr wrap="square">
            <a:spAutoFit/>
          </a:bodyPr>
          <a:lstStyle/>
          <a:p>
            <a:r>
              <a:rPr lang="en-IN" sz="2800" b="1" u="sng" dirty="0">
                <a:latin typeface="Times New Roman" panose="02020603050405020304" pitchFamily="18" charset="0"/>
                <a:cs typeface="Times New Roman" panose="02020603050405020304" pitchFamily="18" charset="0"/>
              </a:rPr>
              <a:t>Main Window:</a:t>
            </a:r>
            <a:r>
              <a:rPr lang="en-IN" sz="2800" b="1"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The Main Menu Screen provides options such as Login, Register, View Products, View Cart, Order History, and Logout.</a:t>
            </a:r>
          </a:p>
          <a:p>
            <a:endParaRPr lang="en-IN" sz="1800" dirty="0"/>
          </a:p>
        </p:txBody>
      </p:sp>
      <p:pic>
        <p:nvPicPr>
          <p:cNvPr id="4" name="Picture 3">
            <a:extLst>
              <a:ext uri="{FF2B5EF4-FFF2-40B4-BE49-F238E27FC236}">
                <a16:creationId xmlns:a16="http://schemas.microsoft.com/office/drawing/2014/main" id="{F015D57E-F2CF-A1DE-F9F6-6707C41BD60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2988661"/>
            <a:ext cx="6781800" cy="3793140"/>
          </a:xfrm>
          <a:prstGeom prst="rect">
            <a:avLst/>
          </a:prstGeom>
          <a:noFill/>
          <a:ln>
            <a:noFill/>
          </a:ln>
        </p:spPr>
      </p:pic>
    </p:spTree>
    <p:extLst>
      <p:ext uri="{BB962C8B-B14F-4D97-AF65-F5344CB8AC3E}">
        <p14:creationId xmlns:p14="http://schemas.microsoft.com/office/powerpoint/2010/main" val="297248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14400" y="1386392"/>
            <a:ext cx="8763000" cy="2646878"/>
          </a:xfrm>
          <a:prstGeom prst="rect">
            <a:avLst/>
          </a:prstGeom>
          <a:noFill/>
        </p:spPr>
        <p:txBody>
          <a:bodyPr wrap="square">
            <a:spAutoFit/>
          </a:bodyPr>
          <a:lstStyle/>
          <a:p>
            <a:r>
              <a:rPr lang="en-IN" sz="2800" b="1" u="sng" dirty="0">
                <a:latin typeface="Times New Roman" panose="02020603050405020304" pitchFamily="18" charset="0"/>
                <a:cs typeface="Times New Roman" panose="02020603050405020304" pitchFamily="18" charset="0"/>
              </a:rPr>
              <a:t>Add To Cart Window:</a:t>
            </a:r>
            <a:endParaRPr lang="en-IN"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Displays products in a structured list with options to view details, add items to the cart.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Allows users to add selected products to the cart and manage item quantities. </a:t>
            </a:r>
          </a:p>
          <a:p>
            <a:endParaRPr lang="en-IN" sz="2400" dirty="0"/>
          </a:p>
          <a:p>
            <a:endParaRPr lang="en-IN" sz="1800" dirty="0"/>
          </a:p>
        </p:txBody>
      </p:sp>
      <p:pic>
        <p:nvPicPr>
          <p:cNvPr id="4" name="Picture 3">
            <a:extLst>
              <a:ext uri="{FF2B5EF4-FFF2-40B4-BE49-F238E27FC236}">
                <a16:creationId xmlns:a16="http://schemas.microsoft.com/office/drawing/2014/main" id="{975A0716-C145-F80D-1768-1352478F3A1D}"/>
              </a:ext>
            </a:extLst>
          </p:cNvPr>
          <p:cNvPicPr>
            <a:picLocks noChangeAspect="1"/>
          </p:cNvPicPr>
          <p:nvPr/>
        </p:nvPicPr>
        <p:blipFill rotWithShape="1">
          <a:blip r:embed="rId7">
            <a:extLst>
              <a:ext uri="{28A0092B-C50C-407E-A947-70E740481C1C}">
                <a14:useLocalDpi xmlns:a14="http://schemas.microsoft.com/office/drawing/2010/main" val="0"/>
              </a:ext>
            </a:extLst>
          </a:blip>
          <a:srcRect r="12" b="12"/>
          <a:stretch>
            <a:fillRect/>
          </a:stretch>
        </p:blipFill>
        <p:spPr bwMode="auto">
          <a:xfrm>
            <a:off x="1468620" y="3429000"/>
            <a:ext cx="6781800" cy="3680593"/>
          </a:xfrm>
          <a:prstGeom prst="rect">
            <a:avLst/>
          </a:prstGeom>
          <a:noFill/>
          <a:ln>
            <a:noFill/>
          </a:ln>
        </p:spPr>
      </p:pic>
    </p:spTree>
    <p:extLst>
      <p:ext uri="{BB962C8B-B14F-4D97-AF65-F5344CB8AC3E}">
        <p14:creationId xmlns:p14="http://schemas.microsoft.com/office/powerpoint/2010/main" val="35996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1969770"/>
          </a:xfrm>
          <a:prstGeom prst="rect">
            <a:avLst/>
          </a:prstGeom>
          <a:noFill/>
        </p:spPr>
        <p:txBody>
          <a:bodyPr wrap="square">
            <a:spAutoFit/>
          </a:bodyPr>
          <a:lstStyle/>
          <a:p>
            <a:r>
              <a:rPr lang="en-IN" sz="2800" b="1" u="sng" dirty="0">
                <a:latin typeface="Times New Roman" panose="02020603050405020304" pitchFamily="18" charset="0"/>
                <a:cs typeface="Times New Roman" panose="02020603050405020304" pitchFamily="18" charset="0"/>
              </a:rPr>
              <a:t>View Cart Window:</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Displays cart items in a clear and organized format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Allows users to update quantities or remove products easily </a:t>
            </a:r>
          </a:p>
          <a:p>
            <a:endParaRPr lang="en-IN" sz="2800" b="1" u="sng" dirty="0"/>
          </a:p>
          <a:p>
            <a:endParaRPr lang="en-IN" sz="1800" dirty="0"/>
          </a:p>
        </p:txBody>
      </p:sp>
      <p:pic>
        <p:nvPicPr>
          <p:cNvPr id="4" name="Picture 3">
            <a:extLst>
              <a:ext uri="{FF2B5EF4-FFF2-40B4-BE49-F238E27FC236}">
                <a16:creationId xmlns:a16="http://schemas.microsoft.com/office/drawing/2014/main" id="{161B5E42-16BA-D87B-7DD0-682B1257A43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602428" y="3048000"/>
            <a:ext cx="7080648" cy="3858482"/>
          </a:xfrm>
          <a:prstGeom prst="rect">
            <a:avLst/>
          </a:prstGeom>
          <a:noFill/>
          <a:ln>
            <a:noFill/>
          </a:ln>
        </p:spPr>
      </p:pic>
    </p:spTree>
    <p:extLst>
      <p:ext uri="{BB962C8B-B14F-4D97-AF65-F5344CB8AC3E}">
        <p14:creationId xmlns:p14="http://schemas.microsoft.com/office/powerpoint/2010/main" val="404924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43970-7215-B4DF-B23D-C88280C15FEA}"/>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3D86E59-31D2-C250-615D-E3BF331BB7F0}"/>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AB69A2B-DD08-DDED-23D9-A72B2116DBC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A4575001-48ED-FE81-F3B8-58F5D5D68121}"/>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FEEC69-5560-848F-1EA8-73C901E94C75}"/>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157953F-695D-31B5-D252-34149637EC6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D8126EE0-F6F4-5CB4-C588-DDC0537F6D4B}"/>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0CBDDE2C-B85E-BCA0-288C-09C6252D5D66}"/>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59D372-71AB-9956-4876-C34D75DDE527}"/>
              </a:ext>
            </a:extLst>
          </p:cNvPr>
          <p:cNvSpPr txBox="1"/>
          <p:nvPr/>
        </p:nvSpPr>
        <p:spPr>
          <a:xfrm>
            <a:off x="914400" y="1386392"/>
            <a:ext cx="8763000" cy="1708160"/>
          </a:xfrm>
          <a:prstGeom prst="rect">
            <a:avLst/>
          </a:prstGeom>
          <a:noFill/>
        </p:spPr>
        <p:txBody>
          <a:bodyPr wrap="square">
            <a:spAutoFit/>
          </a:bodyPr>
          <a:lstStyle/>
          <a:p>
            <a:r>
              <a:rPr lang="en-IN" sz="2800" b="1" u="sng" dirty="0">
                <a:latin typeface="Times New Roman" panose="02020603050405020304" pitchFamily="18" charset="0"/>
                <a:cs typeface="Times New Roman" panose="02020603050405020304" pitchFamily="18" charset="0"/>
              </a:rPr>
              <a:t>Update Cart Window:</a:t>
            </a:r>
          </a:p>
          <a:p>
            <a:endParaRPr lang="en-IN" sz="11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Allows users to modify item quantities or remove products in the cart. </a:t>
            </a:r>
          </a:p>
          <a:p>
            <a:endParaRPr lang="en-IN" sz="2400" dirty="0"/>
          </a:p>
          <a:p>
            <a:endParaRPr lang="en-IN" sz="1800" dirty="0"/>
          </a:p>
        </p:txBody>
      </p:sp>
      <p:pic>
        <p:nvPicPr>
          <p:cNvPr id="2" name="Picture 1">
            <a:extLst>
              <a:ext uri="{FF2B5EF4-FFF2-40B4-BE49-F238E27FC236}">
                <a16:creationId xmlns:a16="http://schemas.microsoft.com/office/drawing/2014/main" id="{647F754E-A1CC-E4CC-5463-19698112AB8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453752" y="2667000"/>
            <a:ext cx="6852048" cy="3962400"/>
          </a:xfrm>
          <a:prstGeom prst="rect">
            <a:avLst/>
          </a:prstGeom>
          <a:noFill/>
          <a:ln>
            <a:noFill/>
          </a:ln>
        </p:spPr>
      </p:pic>
    </p:spTree>
    <p:extLst>
      <p:ext uri="{BB962C8B-B14F-4D97-AF65-F5344CB8AC3E}">
        <p14:creationId xmlns:p14="http://schemas.microsoft.com/office/powerpoint/2010/main" val="3163043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1F1F9-9BDF-7211-C3D9-73FB251D0B7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478F0D43-135D-250C-C388-EF2BBE75A6E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2D916D5-52A6-EB62-46CB-00AC784F72A5}"/>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56C2EB82-63E7-6A08-F256-6F6DF3302EE2}"/>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C993F4DC-2253-9E6C-1DDD-BF771F25917F}"/>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B4154372-617C-9E22-4DC7-E0AF1807E27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DF23984-8FB9-79DF-27EA-49A16DE1B97D}"/>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2E0ADFE0-062F-96F7-A0B3-C748B51FE5CF}"/>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98916274-AFD5-7325-643C-2441713B7FB2}"/>
              </a:ext>
            </a:extLst>
          </p:cNvPr>
          <p:cNvSpPr txBox="1"/>
          <p:nvPr/>
        </p:nvSpPr>
        <p:spPr>
          <a:xfrm>
            <a:off x="914400" y="1386392"/>
            <a:ext cx="8763000" cy="1708160"/>
          </a:xfrm>
          <a:prstGeom prst="rect">
            <a:avLst/>
          </a:prstGeom>
          <a:noFill/>
        </p:spPr>
        <p:txBody>
          <a:bodyPr wrap="square">
            <a:spAutoFit/>
          </a:bodyPr>
          <a:lstStyle/>
          <a:p>
            <a:r>
              <a:rPr lang="en-IN" sz="2800" b="1" u="sng" dirty="0">
                <a:latin typeface="Times New Roman" panose="02020603050405020304" pitchFamily="18" charset="0"/>
                <a:cs typeface="Times New Roman" panose="02020603050405020304" pitchFamily="18" charset="0"/>
              </a:rPr>
              <a:t>Bill Generation Window:</a:t>
            </a:r>
          </a:p>
          <a:p>
            <a:endParaRPr lang="en-IN" sz="11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Generates the final bill with item details, quantities, and total amount. </a:t>
            </a:r>
          </a:p>
          <a:p>
            <a:endParaRPr lang="en-IN" sz="2400" dirty="0"/>
          </a:p>
          <a:p>
            <a:endParaRPr lang="en-IN" sz="1800" dirty="0"/>
          </a:p>
        </p:txBody>
      </p:sp>
      <p:pic>
        <p:nvPicPr>
          <p:cNvPr id="2" name="Picture 1">
            <a:extLst>
              <a:ext uri="{FF2B5EF4-FFF2-40B4-BE49-F238E27FC236}">
                <a16:creationId xmlns:a16="http://schemas.microsoft.com/office/drawing/2014/main" id="{721782DF-A895-FB8E-EFFC-8B64E5DE22E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590044" y="2895600"/>
            <a:ext cx="6878312" cy="3810000"/>
          </a:xfrm>
          <a:prstGeom prst="rect">
            <a:avLst/>
          </a:prstGeom>
          <a:noFill/>
          <a:ln>
            <a:noFill/>
          </a:ln>
        </p:spPr>
      </p:pic>
    </p:spTree>
    <p:extLst>
      <p:ext uri="{BB962C8B-B14F-4D97-AF65-F5344CB8AC3E}">
        <p14:creationId xmlns:p14="http://schemas.microsoft.com/office/powerpoint/2010/main" val="499445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D919-A945-EE26-BDEC-8A36FD99CD02}"/>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5FD79EF-2D5F-637A-D8F4-2D4852008ED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09D8C6B9-99EC-BD3E-FD6D-7932D5BF53ED}"/>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F6882C4C-A3FF-2E25-C543-D72A993B247E}"/>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0E26B07F-9967-BD41-D900-7E62A739C74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AEC980D-BC5D-EDBF-27CE-CBB67F31159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2EDE1F3D-0AEB-D8AF-5069-32318E848F71}"/>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45AD1636-E27C-FBE8-4ABB-9BD98E93D91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A94575D-63F6-EAFF-4D8C-22CCAEE68131}"/>
              </a:ext>
            </a:extLst>
          </p:cNvPr>
          <p:cNvSpPr txBox="1"/>
          <p:nvPr/>
        </p:nvSpPr>
        <p:spPr>
          <a:xfrm>
            <a:off x="914400" y="1386392"/>
            <a:ext cx="8763000" cy="2446824"/>
          </a:xfrm>
          <a:prstGeom prst="rect">
            <a:avLst/>
          </a:prstGeom>
          <a:noFill/>
        </p:spPr>
        <p:txBody>
          <a:bodyPr wrap="square">
            <a:spAutoFit/>
          </a:bodyPr>
          <a:lstStyle/>
          <a:p>
            <a:r>
              <a:rPr lang="en-IN" sz="2800" b="1" u="sng" dirty="0">
                <a:latin typeface="Times New Roman" panose="02020603050405020304" pitchFamily="18" charset="0"/>
                <a:cs typeface="Times New Roman" panose="02020603050405020304" pitchFamily="18" charset="0"/>
              </a:rPr>
              <a:t>Order Confirmation Window:</a:t>
            </a:r>
          </a:p>
          <a:p>
            <a:endParaRPr lang="en-IN" sz="1100" b="1"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Displays confirmation message after successful order placement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Shows order details such as items, total amount, and order status </a:t>
            </a:r>
          </a:p>
          <a:p>
            <a:endParaRPr lang="en-IN" sz="2400" dirty="0"/>
          </a:p>
          <a:p>
            <a:endParaRPr lang="en-IN" sz="2400" dirty="0"/>
          </a:p>
          <a:p>
            <a:endParaRPr lang="en-IN" sz="1800" dirty="0"/>
          </a:p>
        </p:txBody>
      </p:sp>
      <p:pic>
        <p:nvPicPr>
          <p:cNvPr id="12" name="Picture 11">
            <a:extLst>
              <a:ext uri="{FF2B5EF4-FFF2-40B4-BE49-F238E27FC236}">
                <a16:creationId xmlns:a16="http://schemas.microsoft.com/office/drawing/2014/main" id="{20B083EF-F6D2-CA9A-34B7-0AD5C74EE77B}"/>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427732" y="3352800"/>
            <a:ext cx="6775848" cy="3657600"/>
          </a:xfrm>
          <a:prstGeom prst="rect">
            <a:avLst/>
          </a:prstGeom>
          <a:noFill/>
          <a:ln>
            <a:noFill/>
          </a:ln>
        </p:spPr>
      </p:pic>
    </p:spTree>
    <p:extLst>
      <p:ext uri="{BB962C8B-B14F-4D97-AF65-F5344CB8AC3E}">
        <p14:creationId xmlns:p14="http://schemas.microsoft.com/office/powerpoint/2010/main" val="507829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CDDD3-2622-909F-EB1B-B902B49A0355}"/>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A52399-CB1A-B49A-C05D-943DDE87776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A63EF13D-8D47-E9AB-7D89-2D8E4226C207}"/>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343FFAF9-EDD6-8A66-0CED-53A2D5C281EA}"/>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1623F52-3695-2767-30DA-7E55CACC22A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95E7592-E704-4B2E-F15C-F869244149B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C43D6FB-8B93-1FC1-76A1-1D548B2D0CEB}"/>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58F4534E-310F-14A8-F907-65F913C796D8}"/>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6D285999-9D9E-089D-223A-E119AA49B602}"/>
              </a:ext>
            </a:extLst>
          </p:cNvPr>
          <p:cNvSpPr txBox="1"/>
          <p:nvPr/>
        </p:nvSpPr>
        <p:spPr>
          <a:xfrm>
            <a:off x="914400" y="1386392"/>
            <a:ext cx="8763000" cy="1631216"/>
          </a:xfrm>
          <a:prstGeom prst="rect">
            <a:avLst/>
          </a:prstGeom>
          <a:noFill/>
        </p:spPr>
        <p:txBody>
          <a:bodyPr wrap="square">
            <a:spAutoFit/>
          </a:bodyPr>
          <a:lstStyle/>
          <a:p>
            <a:r>
              <a:rPr lang="en-IN" sz="2800" b="1" u="sng" dirty="0">
                <a:latin typeface="Times New Roman" panose="02020603050405020304" pitchFamily="18" charset="0"/>
                <a:cs typeface="Times New Roman" panose="02020603050405020304" pitchFamily="18" charset="0"/>
              </a:rPr>
              <a:t>Order History Window:</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Displays list of all previous orders made by the user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Shows order details such as date, items, and total amount </a:t>
            </a:r>
          </a:p>
          <a:p>
            <a:endParaRPr lang="en-IN" sz="2400" b="1" u="sng" dirty="0"/>
          </a:p>
        </p:txBody>
      </p:sp>
      <p:pic>
        <p:nvPicPr>
          <p:cNvPr id="2" name="Picture 1">
            <a:extLst>
              <a:ext uri="{FF2B5EF4-FFF2-40B4-BE49-F238E27FC236}">
                <a16:creationId xmlns:a16="http://schemas.microsoft.com/office/drawing/2014/main" id="{B86BF350-FCAE-071F-9C2E-EADCE76E0B8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453752" y="3044592"/>
            <a:ext cx="6699648" cy="3700082"/>
          </a:xfrm>
          <a:prstGeom prst="rect">
            <a:avLst/>
          </a:prstGeom>
          <a:noFill/>
          <a:ln>
            <a:noFill/>
          </a:ln>
        </p:spPr>
      </p:pic>
    </p:spTree>
    <p:extLst>
      <p:ext uri="{BB962C8B-B14F-4D97-AF65-F5344CB8AC3E}">
        <p14:creationId xmlns:p14="http://schemas.microsoft.com/office/powerpoint/2010/main" val="1984479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14911" y="1143000"/>
            <a:ext cx="9448800" cy="5632311"/>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Online Shopping Cart Simulation developed in this project provides basic functionalities for managing online purchases. However, the system can be further enhanced by adding advanced features to improve its functionality and user experience.</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Online Payment Integration:</a:t>
            </a:r>
            <a:endParaRPr lang="en-IN" sz="2400" dirty="0">
              <a:latin typeface="Times New Roman" panose="02020603050405020304" pitchFamily="18" charset="0"/>
              <a:cs typeface="Times New Roman" panose="02020603050405020304" pitchFamily="18" charset="0"/>
            </a:endParaRPr>
          </a:p>
          <a:p>
            <a:pPr algn="l"/>
            <a:r>
              <a:rPr lang="en-IN" sz="2400" dirty="0">
                <a:latin typeface="Times New Roman" panose="02020603050405020304" pitchFamily="18" charset="0"/>
                <a:cs typeface="Times New Roman" panose="02020603050405020304" pitchFamily="18" charset="0"/>
              </a:rPr>
              <a:t>    Adding secure payment options such as credit/debit cards, UPI, and net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Web-Based Application:</a:t>
            </a:r>
            <a:endParaRPr lang="en-IN" sz="2400" dirty="0">
              <a:latin typeface="Times New Roman" panose="02020603050405020304" pitchFamily="18" charset="0"/>
              <a:cs typeface="Times New Roman" panose="02020603050405020304" pitchFamily="18" charset="0"/>
            </a:endParaRPr>
          </a:p>
          <a:p>
            <a:pPr algn="l"/>
            <a:r>
              <a:rPr lang="en-IN" sz="2400" dirty="0">
                <a:latin typeface="Times New Roman" panose="02020603050405020304" pitchFamily="18" charset="0"/>
                <a:cs typeface="Times New Roman" panose="02020603050405020304" pitchFamily="18" charset="0"/>
              </a:rPr>
              <a:t>    Converting the desktop application into a web-based system for    remote access</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Order Tracking:</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Providing real-time tracking of orders and delivery status</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User Authentication: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Implementing secure login, registration, and role-based access</a:t>
            </a:r>
          </a:p>
          <a:p>
            <a:r>
              <a:rPr lang="en-IN" sz="2400" dirty="0">
                <a:latin typeface="Times New Roman" panose="02020603050405020304" pitchFamily="18" charset="0"/>
                <a:cs typeface="Times New Roman" panose="02020603050405020304" pitchFamily="18" charset="0"/>
              </a:rPr>
              <a:t>These enhancements can make the system more scalable, secure, and suitable for real-time organizational use</a:t>
            </a:r>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The following references were used during the development of the Online Shopping Cart simulation:</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Herbert Schildt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Java: The Complete Reference</a:t>
            </a:r>
            <a:r>
              <a:rPr lang="en-IN" dirty="0">
                <a:latin typeface="Times New Roman" panose="02020603050405020304" pitchFamily="18" charset="0"/>
                <a:cs typeface="Times New Roman" panose="02020603050405020304" pitchFamily="18" charset="0"/>
              </a:rPr>
              <a:t>, Oracle Press, 11th Edition.</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 </a:t>
            </a:r>
            <a:r>
              <a:rPr lang="en-IN" b="1" dirty="0" err="1">
                <a:latin typeface="Times New Roman" panose="02020603050405020304" pitchFamily="18" charset="0"/>
                <a:cs typeface="Times New Roman" panose="02020603050405020304" pitchFamily="18" charset="0"/>
              </a:rPr>
              <a:t>Balagurusamy</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Programming with Java</a:t>
            </a:r>
            <a:r>
              <a:rPr lang="en-IN" dirty="0">
                <a:latin typeface="Times New Roman" panose="02020603050405020304" pitchFamily="18" charset="0"/>
                <a:cs typeface="Times New Roman" panose="02020603050405020304" pitchFamily="18" charset="0"/>
              </a:rPr>
              <a:t>, McGraw Hill Education.</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Korth, Silberschatz, Sudarshan</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Database System Concepts</a:t>
            </a:r>
            <a:r>
              <a:rPr lang="en-IN" dirty="0">
                <a:latin typeface="Times New Roman" panose="02020603050405020304" pitchFamily="18" charset="0"/>
                <a:cs typeface="Times New Roman" panose="02020603050405020304" pitchFamily="18" charset="0"/>
              </a:rPr>
              <a:t>, McGraw Hill.</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Oracle Documentation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2"/>
              </a:rPr>
              <a:t>https://docs.oracle.com</a:t>
            </a:r>
            <a:endParaRPr lang="en-IN" dirty="0">
              <a:latin typeface="Times New Roman" panose="02020603050405020304" pitchFamily="18" charset="0"/>
              <a:cs typeface="Times New Roman" panose="02020603050405020304" pitchFamily="18" charset="0"/>
            </a:endParaRP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Java Documentation (Oracle)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3"/>
              </a:rPr>
              <a:t>https://docs.oracle.com/javase</a:t>
            </a:r>
            <a:endParaRPr lang="en-IN" dirty="0">
              <a:latin typeface="Times New Roman" panose="02020603050405020304" pitchFamily="18" charset="0"/>
              <a:cs typeface="Times New Roman" panose="02020603050405020304" pitchFamily="18" charset="0"/>
            </a:endParaRP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JDBC Tutorial – </a:t>
            </a:r>
            <a:r>
              <a:rPr lang="en-IN" b="1" dirty="0" err="1">
                <a:latin typeface="Times New Roman" panose="02020603050405020304" pitchFamily="18" charset="0"/>
                <a:cs typeface="Times New Roman" panose="02020603050405020304" pitchFamily="18" charset="0"/>
              </a:rPr>
              <a:t>GeeksforGeeks</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https://www.geeksforgeeks.org/jdbc/</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Java Swing Tutorial – </a:t>
            </a:r>
            <a:r>
              <a:rPr lang="en-IN" b="1" dirty="0" err="1">
                <a:latin typeface="Times New Roman" panose="02020603050405020304" pitchFamily="18" charset="0"/>
                <a:cs typeface="Times New Roman" panose="02020603050405020304" pitchFamily="18" charset="0"/>
              </a:rPr>
              <a:t>TutorialsPoint</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https://www.tutorialspoint.com/java_swing</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W3Schools Java Tutorial</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4"/>
              </a:rPr>
              <a:t>https://www.w3schools.com/java/</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4" name="Rectangle 3">
            <a:extLst>
              <a:ext uri="{FF2B5EF4-FFF2-40B4-BE49-F238E27FC236}">
                <a16:creationId xmlns:a16="http://schemas.microsoft.com/office/drawing/2014/main" id="{C81F8170-6614-EB96-5AC9-BF2935E8A534}"/>
              </a:ext>
            </a:extLst>
          </p:cNvPr>
          <p:cNvSpPr>
            <a:spLocks noChangeArrowheads="1"/>
          </p:cNvSpPr>
          <p:nvPr/>
        </p:nvSpPr>
        <p:spPr bwMode="auto">
          <a:xfrm rot="10800000" flipV="1">
            <a:off x="457200" y="1013608"/>
            <a:ext cx="9372600" cy="664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Online Shopping Cart Simulation is developed to provide a smooth and efficient shopping experience.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replaces traditional methods by reducing manual effort, saving time, and minimizing errors.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includes features like adding products, updating cart items, removing products, and automatic bill calculation.</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Technologies such as Java, Swing, JDBC, and Oracle Database ensure reliable performance and secure data handling.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improves user convenience and simplifies the overall shopping process.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scalable and can be enhanced with features like online payment and order tracking. </a:t>
            </a:r>
          </a:p>
        </p:txBody>
      </p:sp>
    </p:spTree>
    <p:extLst>
      <p:ext uri="{BB962C8B-B14F-4D97-AF65-F5344CB8AC3E}">
        <p14:creationId xmlns:p14="http://schemas.microsoft.com/office/powerpoint/2010/main" val="2694192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2823</TotalTime>
  <Words>1283</Words>
  <Application>Microsoft Office PowerPoint</Application>
  <PresentationFormat>Custom</PresentationFormat>
  <Paragraphs>283</Paragraphs>
  <Slides>24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Nikhila Vasamsetti</cp:lastModifiedBy>
  <cp:revision>52</cp:revision>
  <cp:lastPrinted>2025-10-14T18:21:49Z</cp:lastPrinted>
  <dcterms:created xsi:type="dcterms:W3CDTF">2025-10-10T08:28:06Z</dcterms:created>
  <dcterms:modified xsi:type="dcterms:W3CDTF">2026-04-05T19:03:53Z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